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7955279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Lato"/>
              </a:rPr>
              <a:t>Локалізація автомобіля</a:t>
            </a:r>
            <a:br/>
            <a:r>
              <a:t>за нестабільного GPS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7955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B9D3E7"/>
                </a:solidFill>
                <a:latin typeface="Lato"/>
              </a:rPr>
              <a:t>EKF · IMU · колісна одометрія · stereo VIO · GPS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234440"/>
            <a:ext cx="2331720" cy="3108960"/>
          </a:xfrm>
          <a:prstGeom prst="roundRect">
            <a:avLst/>
          </a:prstGeom>
          <a:solidFill>
            <a:srgbClr val="19304E"/>
          </a:solidFill>
          <a:ln w="10160">
            <a:solidFill>
              <a:srgbClr val="37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0" y="1600200"/>
            <a:ext cx="1783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BA8B5"/>
                </a:solidFill>
                <a:latin typeface="Lato"/>
              </a:rPr>
              <a:t>ДЗ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2331720"/>
            <a:ext cx="1783080" cy="1234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Lato"/>
              </a:rPr>
              <a:t>Complex</a:t>
            </a:r>
            <a:br/>
            <a:r>
              <a:t>Urban</a:t>
            </a:r>
            <a:br/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9D3E7"/>
                </a:solidFill>
                <a:latin typeface="Lato"/>
              </a:rPr>
              <a:t>urban35 · 33 ·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Задача та дані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94960" cy="49834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2011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D71B8"/>
                </a:solidFill>
                <a:latin typeface="Lato"/>
              </a:rPr>
              <a:t>Мета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09160" cy="3108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637"/>
                </a:solidFill>
                <a:latin typeface="Lato"/>
              </a:defRPr>
            </a:pPr>
            <a:r>
              <a:t>•  Оцінити траєкторію автомобіля при повному, рідкому та відсутньому GPS.</a:t>
            </a:r>
          </a:p>
          <a:p>
            <a:pPr>
              <a:spcAft>
                <a:spcPts val="800"/>
              </a:spcAft>
              <a:defRPr sz="1800">
                <a:solidFill>
                  <a:srgbClr val="1B2637"/>
                </a:solidFill>
                <a:latin typeface="Lato"/>
              </a:defRPr>
            </a:pPr>
            <a:r>
              <a:t>•  Порівняти внесок IMU, коліс, stereo VIO та GPS у точність.</a:t>
            </a:r>
          </a:p>
          <a:p>
            <a:pPr>
              <a:spcAft>
                <a:spcPts val="800"/>
              </a:spcAft>
              <a:defRPr sz="1800">
                <a:solidFill>
                  <a:srgbClr val="1B2637"/>
                </a:solidFill>
                <a:latin typeface="Lato"/>
              </a:defRPr>
            </a:pPr>
            <a:r>
              <a:t>•  Виміряти ATE/RMSE відносно незалежного VRS-GPS RTK.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330952" cy="49834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389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D71B8"/>
                </a:solidFill>
                <a:latin typeface="Lato"/>
              </a:rPr>
              <a:t>Complex Urban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1143000" cy="329184"/>
          </a:xfrm>
          <a:prstGeom prst="roundRect">
            <a:avLst/>
          </a:prstGeom>
          <a:solidFill>
            <a:srgbClr val="2B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20824"/>
            <a:ext cx="1143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urban35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01168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Lato"/>
              </a:rPr>
              <a:t>5.5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002536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67487"/>
                </a:solidFill>
                <a:latin typeface="Lato"/>
              </a:rPr>
              <a:t>короткий, майже прямий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017520"/>
            <a:ext cx="1143000" cy="329184"/>
          </a:xfrm>
          <a:prstGeom prst="roundRect">
            <a:avLst/>
          </a:prstGeom>
          <a:solidFill>
            <a:srgbClr val="EB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26664"/>
            <a:ext cx="1143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urban33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01752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Lato"/>
              </a:rPr>
              <a:t>44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008376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67487"/>
                </a:solidFill>
                <a:latin typeface="Lato"/>
              </a:rPr>
              <a:t>повороти, середня довжина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023360"/>
            <a:ext cx="1143000" cy="329184"/>
          </a:xfrm>
          <a:prstGeom prst="roundRect">
            <a:avLst/>
          </a:prstGeom>
          <a:solidFill>
            <a:srgbClr val="C3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032504"/>
            <a:ext cx="1143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urban39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02336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Lato"/>
              </a:rPr>
              <a:t>64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014216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67487"/>
                </a:solidFill>
                <a:latin typeface="Lato"/>
              </a:rPr>
              <a:t>довгий і складний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7492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Commercial GPS → estimator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5074920"/>
            <a:ext cx="2514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VRS-GPS RTK → лише ground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Архітектура системи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2402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868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BA8B5"/>
                </a:solidFill>
                <a:latin typeface="Lato"/>
              </a:rPr>
              <a:t>IMU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380744"/>
            <a:ext cx="1005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667487"/>
                </a:solidFill>
                <a:latin typeface="Lato"/>
              </a:rPr>
              <a:t>gyro + accel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362456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67487"/>
                </a:solidFill>
                <a:latin typeface="Lat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77440"/>
            <a:ext cx="22402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7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868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D71B8"/>
                </a:solidFill>
                <a:latin typeface="Lato"/>
              </a:rPr>
              <a:t>Wheels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523744"/>
            <a:ext cx="1005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667487"/>
                </a:solidFill>
                <a:latin typeface="Lato"/>
              </a:rPr>
              <a:t>speed + yaw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05456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67487"/>
                </a:solidFill>
                <a:latin typeface="Lat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22402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7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39312"/>
            <a:ext cx="868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EB7E33"/>
                </a:solidFill>
                <a:latin typeface="Lato"/>
              </a:rPr>
              <a:t>Stereo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666744"/>
            <a:ext cx="1005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667487"/>
                </a:solidFill>
                <a:latin typeface="Lato"/>
              </a:rPr>
              <a:t>features +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648456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67487"/>
                </a:solidFill>
                <a:latin typeface="Lat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22402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82312"/>
            <a:ext cx="868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339966"/>
                </a:solidFill>
                <a:latin typeface="Lato"/>
              </a:rPr>
              <a:t>GPS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4809744"/>
            <a:ext cx="1005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667487"/>
                </a:solidFill>
                <a:latin typeface="Lato"/>
              </a:rPr>
              <a:t>global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791455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67487"/>
                </a:solidFill>
                <a:latin typeface="Lato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1600200"/>
            <a:ext cx="2240280" cy="3566160"/>
          </a:xfrm>
          <a:prstGeom prst="roundRect">
            <a:avLst/>
          </a:prstGeom>
          <a:solidFill>
            <a:srgbClr val="EBF3FB"/>
          </a:solidFill>
          <a:ln w="10160">
            <a:solidFill>
              <a:srgbClr val="1D7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1874519"/>
            <a:ext cx="12344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1D71B8"/>
                </a:solidFill>
                <a:latin typeface="Lato"/>
              </a:rPr>
              <a:t>EKF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697480"/>
            <a:ext cx="1234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21F35"/>
                </a:solidFill>
                <a:latin typeface="Lato"/>
              </a:rPr>
              <a:t>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1648" y="3044952"/>
            <a:ext cx="1508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67487"/>
                </a:solidFill>
                <a:latin typeface="Lato"/>
              </a:rPr>
              <a:t>IMU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703320"/>
            <a:ext cx="1234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21F35"/>
                </a:solidFill>
                <a:latin typeface="Lato"/>
              </a:rPr>
              <a:t>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4050791"/>
            <a:ext cx="1783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67487"/>
                </a:solidFill>
                <a:latin typeface="Lato"/>
              </a:rPr>
              <a:t>wheels · VIO · GPS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06324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67487"/>
                </a:solidFill>
                <a:latin typeface="Lat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240280"/>
            <a:ext cx="2057400" cy="1508760"/>
          </a:xfrm>
          <a:prstGeom prst="roundRect">
            <a:avLst/>
          </a:prstGeom>
          <a:solidFill>
            <a:srgbClr val="ECF8F3"/>
          </a:solidFill>
          <a:ln w="1016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2542032"/>
            <a:ext cx="1554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339966"/>
                </a:solidFill>
                <a:latin typeface="Lato"/>
              </a:rPr>
              <a:t>Trajectory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306324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67487"/>
                </a:solidFill>
                <a:latin typeface="Lato"/>
              </a:rPr>
              <a:t>x · y · yaw · velocity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06324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67487"/>
                </a:solidFill>
                <a:latin typeface="Lato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1965960"/>
            <a:ext cx="1965960" cy="2057400"/>
          </a:xfrm>
          <a:prstGeom prst="roundRect">
            <a:avLst/>
          </a:prstGeom>
          <a:solidFill>
            <a:srgbClr val="FAF5EB"/>
          </a:solidFill>
          <a:ln w="10160">
            <a:solidFill>
              <a:srgbClr val="EB7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6648" y="2286000"/>
            <a:ext cx="148132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EB7E33"/>
                </a:solidFill>
                <a:latin typeface="Lato"/>
              </a:rPr>
              <a:t>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85292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B2637"/>
                </a:solidFill>
                <a:latin typeface="Lato"/>
              </a:rPr>
              <a:t>VRS-GPS RTK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8" y="3255264"/>
            <a:ext cx="15727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67487"/>
                </a:solidFill>
                <a:latin typeface="Lato"/>
              </a:rPr>
              <a:t>ATE · RMSE · NIS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5715000"/>
            <a:ext cx="5852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1F35"/>
                </a:solidFill>
                <a:latin typeface="Lato"/>
              </a:rPr>
              <a:t>GPS через Kalman cross-covariance коригує pose, velocity та IMU biases.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Експериментальні конфігурації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1208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645920"/>
            <a:ext cx="685800" cy="685800"/>
          </a:xfrm>
          <a:prstGeom prst="ellipse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46504"/>
            <a:ext cx="685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18488"/>
            <a:ext cx="3611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21F35"/>
                </a:solidFill>
                <a:latin typeface="Lato"/>
              </a:rPr>
              <a:t>GPS + IMU + wheels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67128"/>
            <a:ext cx="3520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67487"/>
                </a:solidFill>
                <a:latin typeface="Lato"/>
              </a:rPr>
              <a:t>Усі commercial GPS measurements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34440"/>
            <a:ext cx="521208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D7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1645920"/>
            <a:ext cx="685800" cy="685800"/>
          </a:xfrm>
          <a:prstGeom prst="ellipse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46504"/>
            <a:ext cx="685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618488"/>
            <a:ext cx="3611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21F35"/>
                </a:solidFill>
                <a:latin typeface="Lato"/>
              </a:rPr>
              <a:t>IMU + wheels + VIO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167128"/>
            <a:ext cx="3520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67487"/>
                </a:solidFill>
                <a:latin typeface="Lato"/>
              </a:rPr>
              <a:t>GPS-denied режим; оцінка відносного руху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21208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7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069080"/>
            <a:ext cx="685800" cy="685800"/>
          </a:xfrm>
          <a:prstGeom prst="ellipse">
            <a:avLst/>
          </a:prstGeom>
          <a:solidFill>
            <a:srgbClr val="EB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69664"/>
            <a:ext cx="685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41648"/>
            <a:ext cx="3611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21F35"/>
                </a:solidFill>
                <a:latin typeface="Lato"/>
              </a:rPr>
              <a:t>VIO + GPS dropout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590288"/>
            <a:ext cx="3520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67487"/>
                </a:solidFill>
                <a:latin typeface="Lato"/>
              </a:rPr>
              <a:t>GPS немає на 20–40% і 50–70% шляху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57600"/>
            <a:ext cx="521208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29400" y="4069080"/>
            <a:ext cx="685800" cy="685800"/>
          </a:xfrm>
          <a:prstGeom prst="ellipse">
            <a:avLst/>
          </a:prstGeom>
          <a:solidFill>
            <a:srgbClr val="2B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169664"/>
            <a:ext cx="685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041648"/>
            <a:ext cx="3611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21F35"/>
                </a:solidFill>
                <a:latin typeface="Lato"/>
              </a:rPr>
              <a:t>VIO + sparse GPS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590288"/>
            <a:ext cx="3520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67487"/>
                </a:solidFill>
                <a:latin typeface="Lato"/>
              </a:rPr>
              <a:t>Одна глобальна поправка кожні 30 секунд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97880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B2637"/>
                </a:solidFill>
                <a:latin typeface="Lato"/>
              </a:rPr>
              <a:t>VIO передає в EKF body-frame Δx, Δy, Δyaw · NIS gate перевіряє сумісність update.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urban35: порівняння RMSE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67487"/>
                </a:solidFill>
                <a:latin typeface="Lato"/>
              </a:rPr>
              <a:t>Короткий майже прямий маршрут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745236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0034"/>
            <a:ext cx="7452360" cy="41665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188720"/>
            <a:ext cx="3291840" cy="50292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81328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21F35"/>
                </a:solidFill>
                <a:latin typeface="Lato"/>
              </a:rPr>
              <a:t>Global ATE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993392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975104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339966"/>
                </a:solidFill>
                <a:latin typeface="Lato"/>
              </a:rPr>
              <a:t>0.66 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651760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VIO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633472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1D71B8"/>
                </a:solidFill>
                <a:latin typeface="Lato"/>
              </a:rPr>
              <a:t>4.63 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310128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Dropout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91840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EB7E33"/>
                </a:solidFill>
                <a:latin typeface="Lato"/>
              </a:rPr>
              <a:t>1.82 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968496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Sparse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950208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2BA8B5"/>
                </a:solidFill>
                <a:latin typeface="Lato"/>
              </a:rPr>
              <a:t>5.11 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736592"/>
            <a:ext cx="2651760" cy="2743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956048"/>
            <a:ext cx="26517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2637"/>
                </a:solidFill>
                <a:latin typeface="Lato"/>
              </a:rPr>
              <a:t>Dropout майже не шкодить: між GPS-ділянками drift не встигає значно зрости. Sparse GPS має лише 5 прийнятих position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urban35: траєкторії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67487"/>
                </a:solidFill>
                <a:latin typeface="Lato"/>
              </a:rPr>
              <a:t>Короткий майже прямий маршрут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jectory_gps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0" y="1298448"/>
            <a:ext cx="3337639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444752"/>
            <a:ext cx="2331720" cy="329184"/>
          </a:xfrm>
          <a:prstGeom prst="roundRect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GPS + IMU + wheels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7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ajectory_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157" y="1298448"/>
            <a:ext cx="3432101" cy="45262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90288" y="1444752"/>
            <a:ext cx="2331720" cy="329184"/>
          </a:xfrm>
          <a:prstGeom prst="round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IMU + wheels + VIO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11896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rajectory_degraded_g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991" y="1298448"/>
            <a:ext cx="3597408" cy="45262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494776" y="1444752"/>
            <a:ext cx="2331720" cy="329184"/>
          </a:xfrm>
          <a:prstGeom prst="roundRect">
            <a:avLst/>
          </a:prstGeom>
          <a:solidFill>
            <a:srgbClr val="EB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Dropout та sparse GPS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3327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B2637"/>
                </a:solidFill>
                <a:latin typeface="Lato"/>
              </a:rPr>
              <a:t>Initial-pose alignment: reference задає лише старт і початковий напрям; scale та подальша траєкторія не підганяються.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urban33: порівняння RMSE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67487"/>
                </a:solidFill>
                <a:latin typeface="Lato"/>
              </a:rPr>
              <a:t>Середній маршрут із багатьма поворотами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745236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1507"/>
            <a:ext cx="7452360" cy="41636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188720"/>
            <a:ext cx="3291840" cy="50292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81328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21F35"/>
                </a:solidFill>
                <a:latin typeface="Lato"/>
              </a:rPr>
              <a:t>Global ATE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993392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975104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339966"/>
                </a:solidFill>
                <a:latin typeface="Lato"/>
              </a:rPr>
              <a:t>2.49 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651760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VIO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633472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1D71B8"/>
                </a:solidFill>
                <a:latin typeface="Lato"/>
              </a:rPr>
              <a:t>76.91 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310128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Dropout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91840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EB7E33"/>
                </a:solidFill>
                <a:latin typeface="Lato"/>
              </a:rPr>
              <a:t>13.57 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968496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Sparse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950208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2BA8B5"/>
                </a:solidFill>
                <a:latin typeface="Lato"/>
              </a:rPr>
              <a:t>3.82 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736592"/>
            <a:ext cx="2651760" cy="2743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956048"/>
            <a:ext cx="26517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2637"/>
                </a:solidFill>
                <a:latin typeface="Lato"/>
              </a:rPr>
              <a:t>GPS раз на 30 с знижує Global ATE на 95.4% відносно IMU + wheels baseline та майже досягає повного GPS.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urban33: траєкторії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67487"/>
                </a:solidFill>
                <a:latin typeface="Lato"/>
              </a:rPr>
              <a:t>Середній маршрут із багатьма поворотами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jectory_gps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08250"/>
            <a:ext cx="3657600" cy="210667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444752"/>
            <a:ext cx="2331720" cy="329184"/>
          </a:xfrm>
          <a:prstGeom prst="roundRect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GPS + IMU + wheels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7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ajectory_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2513420"/>
            <a:ext cx="3657600" cy="209633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90288" y="1444752"/>
            <a:ext cx="2331720" cy="329184"/>
          </a:xfrm>
          <a:prstGeom prst="round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IMU + wheels + VIO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11896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rajectory_degraded_g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508250"/>
            <a:ext cx="3657600" cy="210667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494776" y="1444752"/>
            <a:ext cx="2331720" cy="329184"/>
          </a:xfrm>
          <a:prstGeom prst="roundRect">
            <a:avLst/>
          </a:prstGeom>
          <a:solidFill>
            <a:srgbClr val="EB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Dropout та sparse GPS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3327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B2637"/>
                </a:solidFill>
                <a:latin typeface="Lato"/>
              </a:rPr>
              <a:t>Initial-pose alignment: reference задає лише старт і початковий напрям; scale та подальша траєкторія не підганяються.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urban39: порівняння RMSE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67487"/>
                </a:solidFill>
                <a:latin typeface="Lato"/>
              </a:rPr>
              <a:t>Найдовший і найскладніший маршрут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745236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1507"/>
            <a:ext cx="7452360" cy="41636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188720"/>
            <a:ext cx="3291840" cy="50292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81328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21F35"/>
                </a:solidFill>
                <a:latin typeface="Lato"/>
              </a:rPr>
              <a:t>Global ATE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993392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975104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339966"/>
                </a:solidFill>
                <a:latin typeface="Lato"/>
              </a:rPr>
              <a:t>2.44 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651760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VIO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633472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1D71B8"/>
                </a:solidFill>
                <a:latin typeface="Lato"/>
              </a:rPr>
              <a:t>181.38 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310128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Dropout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91840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EB7E33"/>
                </a:solidFill>
                <a:latin typeface="Lato"/>
              </a:rPr>
              <a:t>169.77 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968496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B2637"/>
                </a:solidFill>
                <a:latin typeface="Lato"/>
              </a:rPr>
              <a:t>Sparse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950208"/>
            <a:ext cx="1234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800" b="1">
                <a:solidFill>
                  <a:srgbClr val="2BA8B5"/>
                </a:solidFill>
                <a:latin typeface="Lato"/>
              </a:rPr>
              <a:t>40.79 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736592"/>
            <a:ext cx="2651760" cy="2743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956048"/>
            <a:ext cx="26517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2637"/>
                </a:solidFill>
                <a:latin typeface="Lato"/>
              </a:rPr>
              <a:t>Довгі outages спричиняють великий drift і NIS rejection після повернення GPS. Регулярні 30-секундні updates зменшують RMSE на 78.4%.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Lato"/>
              </a:rPr>
              <a:t>urban39: траєкторії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5486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667487"/>
                </a:solidFill>
                <a:latin typeface="Lat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487"/>
                </a:solidFill>
                <a:latin typeface="Lato"/>
              </a:rPr>
              <a:t>Sensor Fusion · Homework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67487"/>
                </a:solidFill>
                <a:latin typeface="Lato"/>
              </a:rPr>
              <a:t>Найдовший і найскладніший маршрут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jectory_gps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12337"/>
            <a:ext cx="3657600" cy="249850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444752"/>
            <a:ext cx="2331720" cy="329184"/>
          </a:xfrm>
          <a:prstGeom prst="roundRect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GPS + IMU + wheels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7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ajectory_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1703708"/>
            <a:ext cx="3657600" cy="37157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90288" y="1444752"/>
            <a:ext cx="2331720" cy="329184"/>
          </a:xfrm>
          <a:prstGeom prst="roundRect">
            <a:avLst/>
          </a:prstGeom>
          <a:solidFill>
            <a:srgbClr val="1D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IMU + wheels + VIO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11896" y="1298448"/>
            <a:ext cx="36576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rajectory_degraded_g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010614"/>
            <a:ext cx="3657600" cy="310194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494776" y="1444752"/>
            <a:ext cx="2331720" cy="329184"/>
          </a:xfrm>
          <a:prstGeom prst="roundRect">
            <a:avLst/>
          </a:prstGeom>
          <a:solidFill>
            <a:srgbClr val="EB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1453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Dropout та sparse GPS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3327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B2637"/>
                </a:solidFill>
                <a:latin typeface="Lato"/>
              </a:rPr>
              <a:t>Initial-pose alignment: reference задає лише старт і початковий напрям; scale та подальша траєкторія не підганяються.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Lato"/>
              </a:rPr>
              <a:t>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BA8B5"/>
                </a:solidFill>
                <a:latin typeface="La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07592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Lato"/>
              </a:rPr>
              <a:t>IMU + wheels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307592"/>
            <a:ext cx="80010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CAD8E6"/>
                </a:solidFill>
                <a:latin typeface="Lato"/>
              </a:rPr>
              <a:t>стабільні короткочасно, але накопичують yaw та position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39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BA8B5"/>
                </a:solidFill>
                <a:latin typeface="Lat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59151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Lato"/>
              </a:rPr>
              <a:t>Спрощений 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359151"/>
            <a:ext cx="80010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CAD8E6"/>
                </a:solidFill>
                <a:latin typeface="Lato"/>
              </a:rPr>
              <a:t>допомагає на частині складних маршрутів, але не дає глобальної точності.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2900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BA8B5"/>
                </a:solidFill>
                <a:latin typeface="Lat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10712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Lato"/>
              </a:rPr>
              <a:t>GPS dropout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410712"/>
            <a:ext cx="80010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CAD8E6"/>
                </a:solidFill>
                <a:latin typeface="Lato"/>
              </a:rPr>
              <a:t>довгі розриви призводять до великого innovation та NIS rejection після повернення GPS.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BA8B5"/>
                </a:solidFill>
                <a:latin typeface="Lat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62272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Lato"/>
              </a:rPr>
              <a:t>Sparse GPS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462272"/>
            <a:ext cx="80010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CAD8E6"/>
                </a:solidFill>
                <a:latin typeface="Lato"/>
              </a:rPr>
              <a:t>регулярна поправка раз на 30 с значно обмежує drift на urban33/39.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623560"/>
            <a:ext cx="10744200" cy="640080"/>
          </a:xfrm>
          <a:prstGeom prst="roundRect">
            <a:avLst/>
          </a:prstGeom>
          <a:solidFill>
            <a:srgbClr val="19304E"/>
          </a:solidFill>
          <a:ln w="10160">
            <a:solidFill>
              <a:srgbClr val="37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97296"/>
            <a:ext cx="10241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Наступний крок: повний 3D VIO з IMU preintegration + loop closure або map constraints.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94ADC5"/>
                </a:solidFill>
                <a:latin typeface="Lato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